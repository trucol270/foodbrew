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18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enzymes does the body already make — and where do the rest need to act?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1382451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6537960" cy="3657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1280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Enzyme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80360" y="749808"/>
            <a:ext cx="21945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needs to act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74920" y="749808"/>
            <a:ext cx="5943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pH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0" y="749808"/>
            <a:ext cx="5943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63640" y="749808"/>
            <a:ext cx="6858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49440" y="749808"/>
            <a:ext cx="4114800" cy="365760"/>
          </a:xfrm>
          <a:prstGeom prst="rect">
            <a:avLst/>
          </a:prstGeom>
          <a:solidFill>
            <a:srgbClr val="9F14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49440" y="749808"/>
            <a:ext cx="41148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00200" y="1115568"/>
            <a:ext cx="9464040" cy="676656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00200" y="2468880"/>
            <a:ext cx="9464040" cy="676656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00200" y="3822192"/>
            <a:ext cx="9464040" cy="676656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1115568"/>
            <a:ext cx="10652760" cy="4059936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00200" y="1115568"/>
            <a:ext cx="0" cy="405993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80360" y="1115568"/>
            <a:ext cx="0" cy="405993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74920" y="1115568"/>
            <a:ext cx="0" cy="405993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0" y="1115568"/>
            <a:ext cx="0" cy="405993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63640" y="1115568"/>
            <a:ext cx="0" cy="405993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49440" y="1115568"/>
            <a:ext cx="0" cy="405993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1115568"/>
            <a:ext cx="1188720" cy="2029968"/>
          </a:xfrm>
          <a:prstGeom prst="rect">
            <a:avLst/>
          </a:prstGeom>
          <a:solidFill>
            <a:srgbClr val="FBE9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1115568"/>
            <a:ext cx="11887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F1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Native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F1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Enzyme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145536"/>
            <a:ext cx="1188720" cy="676656"/>
          </a:xfrm>
          <a:prstGeom prst="rect">
            <a:avLst/>
          </a:prstGeom>
          <a:solidFill>
            <a:srgbClr val="E4E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145536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Supply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3822192"/>
            <a:ext cx="1188720" cy="135331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822192"/>
            <a:ext cx="11887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Well-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00200" y="1115568"/>
            <a:ext cx="1280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Alpha-galactosidase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80360" y="1115568"/>
            <a:ext cx="21945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Stomach → small intestine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1115568"/>
            <a:ext cx="594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0" y="1115568"/>
            <a:ext cx="594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1115568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49440" y="1115568"/>
            <a:ext cx="411480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natural source is colonic bacteria — must clear GOS before it reaches the colon undigested.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600200" y="1792224"/>
            <a:ext cx="1280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Inulinase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80360" y="1792224"/>
            <a:ext cx="21945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Stomach (strongest window) → upper small intestine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4920" y="1792224"/>
            <a:ext cx="594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69280" y="1792224"/>
            <a:ext cx="594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63640" y="1792224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~3.0–5.0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49440" y="1792224"/>
            <a:ext cx="411480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Fructans are indigestible to humans by definition — same colon deadline as alpha-gal.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600200" y="2468880"/>
            <a:ext cx="1280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Xylose / glucose isomerase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80360" y="2468880"/>
            <a:ext cx="21945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intestine, near the absorption site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74920" y="2468880"/>
            <a:ext cx="594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69280" y="2468880"/>
            <a:ext cx="594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63640" y="2468880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7.0–9.0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49440" y="2468880"/>
            <a:ext cx="411480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fructose to glucose so it can ride the SGLT-1 transporter instead of the narrower fructose-only pathway.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600200" y="3145536"/>
            <a:ext cx="1280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Lactase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880360" y="3145536"/>
            <a:ext cx="21945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 → stomach (pre-digest before small intestine)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74920" y="3145536"/>
            <a:ext cx="594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669280" y="3145536"/>
            <a:ext cx="594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63640" y="3145536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~5.0*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49440" y="3145536"/>
            <a:ext cx="411480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Body's own supply sits in the small intestine but commonly declines by adulthood — that decline is lactose intolerance.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600200" y="3822192"/>
            <a:ext cx="1280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Protease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880360" y="3822192"/>
            <a:ext cx="21945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Stomach + small intestine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74920" y="3822192"/>
            <a:ext cx="594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669280" y="3822192"/>
            <a:ext cx="594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63640" y="3822192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949440" y="3822192"/>
            <a:ext cx="411480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Pepsin plus pancreatic proteases already digest protein thoroughly — supplementing here is additive, not filling a gap.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600200" y="4498848"/>
            <a:ext cx="1280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Lipase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880360" y="4498848"/>
            <a:ext cx="21945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 (minor) + stomach (minor) + small intestine (majority)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74920" y="4498848"/>
            <a:ext cx="594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669280" y="4498848"/>
            <a:ext cx="594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263640" y="4498848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949440" y="4498848"/>
            <a:ext cx="411480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Lingual, gastric, and pancreatic lipase already cover most fat digestion — supplement mirrors that natural split.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522122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Enzyme origin / site notes: Cleveland Clinic; Healthy Gut; FructoHelp; project research on lactase, alpha-galactosidase, and inulinase pH/temperature optima. *Lactase: narrower academic range (2.5–5.4, optimal ~5.0, fungal source) used as the primary figure here. At least one commercial supplier spec (Sunson Enzyme) lists a broader 3.0–8.0 activity range with optimum 3.5–5.0 — treated as a looser "still shows some activity" claim, not a sustained-stability figure.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11480" y="5687568"/>
            <a:ext cx="10652760" cy="713232"/>
          </a:xfrm>
          <a:prstGeom prst="roundRect">
            <a:avLst>
              <a:gd name="adj" fmla="val 7692"/>
            </a:avLst>
          </a:prstGeom>
          <a:solidFill>
            <a:srgbClr val="FBEEF1"/>
          </a:solidFill>
          <a:ln w="12700">
            <a:solidFill>
              <a:srgbClr val="E9C4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12648" y="5779008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9F1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finish before the colon: </a:t>
            </a:r>
            <a:r>
              <a:rPr lang="en-US" sz="1050" dirty="0">
                <a:solidFill>
                  <a:srgbClr val="5C0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alpha-galactosidase, inulinase, and xylose isomerase all target substrates with no native human enzyme at all. Whatever arrives at the colon undigested gets fermented by resident bacteria — that fermentation is the actual mechanism behind gas and bloating. There's no catching up once the substrate crosses in.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pH shifts across the digestive tract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11382451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417320" cy="1143000"/>
          </a:xfrm>
          <a:prstGeom prst="rect">
            <a:avLst/>
          </a:prstGeom>
          <a:solidFill>
            <a:srgbClr val="7C6B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2161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6.2–7.6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84632" y="167335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0" y="1051560"/>
            <a:ext cx="1874520" cy="1143000"/>
          </a:xfrm>
          <a:prstGeom prst="rect">
            <a:avLst/>
          </a:prstGeom>
          <a:solidFill>
            <a:srgbClr val="C2486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12161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1.5–2.0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901952" y="167335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Stomach, fasting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03320" y="1051560"/>
            <a:ext cx="1874520" cy="1143000"/>
          </a:xfrm>
          <a:prstGeom prst="rect">
            <a:avLst/>
          </a:prstGeom>
          <a:solidFill>
            <a:srgbClr val="E39AB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03320" y="12161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76472" y="167335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Stomach, after eating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1051560"/>
            <a:ext cx="1691640" cy="1143000"/>
          </a:xfrm>
          <a:prstGeom prst="rect">
            <a:avLst/>
          </a:prstGeom>
          <a:solidFill>
            <a:srgbClr val="8FB8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77840" y="12161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6.0–6.5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650992" y="167335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Duodenum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69480" y="1051560"/>
            <a:ext cx="1874520" cy="1143000"/>
          </a:xfrm>
          <a:prstGeom prst="rect">
            <a:avLst/>
          </a:prstGeom>
          <a:solidFill>
            <a:srgbClr val="4C86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69480" y="12161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7.0–7.5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42632" y="167335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Jejunum / ileum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0" y="1051560"/>
            <a:ext cx="1874520" cy="1143000"/>
          </a:xfrm>
          <a:prstGeom prst="rect">
            <a:avLst/>
          </a:prstGeom>
          <a:solidFill>
            <a:srgbClr val="6FA97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0" y="12161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5.5–7.0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217152" y="167335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514600"/>
            <a:ext cx="3380232" cy="141732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" y="2642616"/>
            <a:ext cx="30510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Stomach acidity is a moving target.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around pH 1.5–2 fasting, but food buffers it up toward pH 4–6 right after a meal, then it drifts back down over roughly two hours — the practical window for enzymes to work before the acid environment resets.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47744" y="2514600"/>
            <a:ext cx="3380232" cy="141732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12336" y="2642616"/>
            <a:ext cx="30510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intestine pH climbs as you move along it.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acidic at the duodenum, just past the stomach, and rising toward neutral by the ileum — relevant for enzymes like fungal lactase and inulinase that specifically favor the more acidic end.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4008" y="2514600"/>
            <a:ext cx="3380232" cy="141732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48600" y="2642616"/>
            <a:ext cx="30510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 pH dips slightly before rising.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Bacterial fermentation — including of any undigested GOS or fructans that made it this far — temporarily lowers pH in the proximal colon before it climbs back toward neutral distally.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206240"/>
            <a:ext cx="10652760" cy="777240"/>
          </a:xfrm>
          <a:prstGeom prst="roundRect">
            <a:avLst>
              <a:gd name="adj" fmla="val 7059"/>
            </a:avLst>
          </a:prstGeom>
          <a:solidFill>
            <a:srgbClr val="EEF1F7"/>
          </a:solidFill>
          <a:ln w="12700">
            <a:solidFill>
              <a:srgbClr val="C7D0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2648" y="4297680"/>
            <a:ext cx="10250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Racing the clock, not one organ: </a:t>
            </a:r>
            <a:r>
              <a:rPr lang="en-US" sz="10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these enzymes don't need to hit one precise anatomical target — they need to finish somewhere in the ~2–4 hour window between the mouth and the colon. Every row on the previous slide is really a deadline, not just a location.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enzyme's pH tolerance lines up with the digestive tract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11480" y="603504"/>
            <a:ext cx="11382451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006840" y="2194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 this zone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469880" y="256032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744200" y="2194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749808"/>
            <a:ext cx="2148840" cy="827532"/>
          </a:xfrm>
          <a:prstGeom prst="roundRect">
            <a:avLst>
              <a:gd name="adj" fmla="val 5525"/>
            </a:avLst>
          </a:prstGeom>
          <a:solidFill>
            <a:srgbClr val="7C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7784" y="1005840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70048" y="749808"/>
            <a:ext cx="960120" cy="827532"/>
          </a:xfrm>
          <a:prstGeom prst="rect">
            <a:avLst/>
          </a:prstGeom>
          <a:solidFill>
            <a:srgbClr val="F7F9F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70048" y="84124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70048" y="10058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6.2–7.6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739896" y="749808"/>
            <a:ext cx="7598664" cy="8275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67912" y="84124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67912" y="84124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Lactase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2.5–5.4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65776" y="84124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65776" y="84124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Alpha-gal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3.0–8.0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263640" y="84124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3640" y="84124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Inulinase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2.0–7.0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461504" y="84124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61504" y="84124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4.0–8.0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8659368" y="84124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59368" y="84124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2.0–9.0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9857232" y="84124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57232" y="84124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Xylose isom.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7.0–9.0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67912" y="1248156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Everything's dormant here — dwell time is only seconds, too brief for any enzyme to meaningfully react regardless of pH fit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1632204"/>
            <a:ext cx="2148840" cy="827532"/>
          </a:xfrm>
          <a:prstGeom prst="roundRect">
            <a:avLst>
              <a:gd name="adj" fmla="val 5525"/>
            </a:avLst>
          </a:prstGeom>
          <a:solidFill>
            <a:srgbClr val="C248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7784" y="1723644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Stomach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" y="2167128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70048" y="1632204"/>
            <a:ext cx="960120" cy="827532"/>
          </a:xfrm>
          <a:prstGeom prst="rect">
            <a:avLst/>
          </a:prstGeom>
          <a:solidFill>
            <a:srgbClr val="F7F9F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70048" y="17236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70048" y="1888236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1.5–2.0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739896" y="1632204"/>
            <a:ext cx="7598664" cy="8275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867912" y="1723644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67912" y="17236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Lactase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2.5–5.4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065776" y="1723644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65776" y="17236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Alpha-gal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3.0–8.0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263640" y="1723644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1B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63640" y="17236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Inulinase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2.0–7.0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461504" y="1723644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61504" y="17236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4.0–8.0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659368" y="1723644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E87B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659368" y="17236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Lipase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2.0–9.0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9857232" y="1723644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857232" y="17236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Xylose isom.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7.0–9.0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867912" y="2130552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acid-tolerant enzymes are active before food arrives to buffer the pH up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1480" y="2514600"/>
            <a:ext cx="2148840" cy="827532"/>
          </a:xfrm>
          <a:prstGeom prst="roundRect">
            <a:avLst>
              <a:gd name="adj" fmla="val 5525"/>
            </a:avLst>
          </a:prstGeom>
          <a:solidFill>
            <a:srgbClr val="E39A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57784" y="2606040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Stomach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57784" y="3049524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eating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670048" y="2514600"/>
            <a:ext cx="960120" cy="827532"/>
          </a:xfrm>
          <a:prstGeom prst="rect">
            <a:avLst/>
          </a:prstGeom>
          <a:solidFill>
            <a:srgbClr val="F7F9F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670048" y="26060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70048" y="277063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3739896" y="2514600"/>
            <a:ext cx="7598664" cy="8275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867912" y="260604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867912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Lactase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2.5–5.4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065776" y="260604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65776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Alpha-gal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3.0–8.0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263640" y="260604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1B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263640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Inulinase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2.0–7.0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461504" y="260604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C9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461504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Protease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4.0–8.0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8659368" y="260604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E87B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659368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Lipase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2.0–9.0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9857232" y="260604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857232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Xylose isom.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7.0–9.0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867912" y="3012948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workhorse zone — nearly everything is in its active range here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11480" y="3396996"/>
            <a:ext cx="2148840" cy="827532"/>
          </a:xfrm>
          <a:prstGeom prst="roundRect">
            <a:avLst>
              <a:gd name="adj" fmla="val 5525"/>
            </a:avLst>
          </a:prstGeom>
          <a:solidFill>
            <a:srgbClr val="8FB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57784" y="3488436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Duodenum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557784" y="393192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INTESTINE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670048" y="3396996"/>
            <a:ext cx="960120" cy="827532"/>
          </a:xfrm>
          <a:prstGeom prst="rect">
            <a:avLst/>
          </a:prstGeom>
          <a:solidFill>
            <a:srgbClr val="F7F9F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670048" y="348843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2670048" y="365302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6.0–6.5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3739896" y="3396996"/>
            <a:ext cx="7598664" cy="8275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867912" y="3488436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867912" y="34884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Lactase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2.5–5.4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5065776" y="3488436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065776" y="34884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Alpha-gal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3.0–8.0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6263640" y="3488436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263640" y="34884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Inulinase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2.0–7.0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461504" y="3488436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C9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461504" y="34884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Protease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4.0–8.0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8659368" y="3488436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E87B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659368" y="34884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Lipase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2.0–9.0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9857232" y="3488436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857232" y="34884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Xylose isom.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7.0–9.0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3867912" y="3895344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Lactase has dropped out (above its 5.4 ceiling); inulinase is fading past its range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11480" y="4279392"/>
            <a:ext cx="2148840" cy="827532"/>
          </a:xfrm>
          <a:prstGeom prst="roundRect">
            <a:avLst>
              <a:gd name="adj" fmla="val 5525"/>
            </a:avLst>
          </a:prstGeom>
          <a:solidFill>
            <a:srgbClr val="4C8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57784" y="437083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Jejunum / Ileum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557784" y="4814316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INTESTINE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2670048" y="4279392"/>
            <a:ext cx="960120" cy="827532"/>
          </a:xfrm>
          <a:prstGeom prst="rect">
            <a:avLst/>
          </a:prstGeom>
          <a:solidFill>
            <a:srgbClr val="F7F9F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670048" y="43708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2670048" y="453542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7.0–7.5</a:t>
            </a:r>
            <a:endParaRPr lang="en-US" sz="1500" dirty="0"/>
          </a:p>
        </p:txBody>
      </p:sp>
      <p:sp>
        <p:nvSpPr>
          <p:cNvPr id="93" name="Shape 91"/>
          <p:cNvSpPr/>
          <p:nvPr/>
        </p:nvSpPr>
        <p:spPr>
          <a:xfrm>
            <a:off x="3739896" y="4279392"/>
            <a:ext cx="7598664" cy="8275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3867912" y="4370832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867912" y="43708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Lactase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2.5–5.4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5065776" y="4370832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065776" y="43708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Alpha-gal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3.0–8.0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6263640" y="4370832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263640" y="43708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Inulinase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2.0–7.0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461504" y="4370832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C9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461504" y="43708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Protease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4.0–8.0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8659368" y="4370832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E87B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8659368" y="43708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Lipase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2.0–9.0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9857232" y="4370832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008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9857232" y="43708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Xylose isom.
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7.0–9.0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3867912" y="4777740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Xylose isomerase's prime window — this is specifically where it wants to be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11480" y="5161788"/>
            <a:ext cx="2148840" cy="827532"/>
          </a:xfrm>
          <a:prstGeom prst="roundRect">
            <a:avLst>
              <a:gd name="adj" fmla="val 5525"/>
            </a:avLst>
          </a:prstGeom>
          <a:solidFill>
            <a:srgbClr val="6FA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557784" y="525322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</a:t>
            </a:r>
            <a:endParaRPr lang="en-US" sz="1400" dirty="0"/>
          </a:p>
        </p:txBody>
      </p:sp>
      <p:sp>
        <p:nvSpPr>
          <p:cNvPr id="109" name="Text 107"/>
          <p:cNvSpPr/>
          <p:nvPr/>
        </p:nvSpPr>
        <p:spPr>
          <a:xfrm>
            <a:off x="557784" y="569671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INTESTINE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2670048" y="5161788"/>
            <a:ext cx="960120" cy="827532"/>
          </a:xfrm>
          <a:prstGeom prst="rect">
            <a:avLst/>
          </a:prstGeom>
          <a:solidFill>
            <a:srgbClr val="F7F9F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2670048" y="52532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2670048" y="541782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5.5–7.0</a:t>
            </a:r>
            <a:endParaRPr lang="en-US" sz="1500" dirty="0"/>
          </a:p>
        </p:txBody>
      </p:sp>
      <p:sp>
        <p:nvSpPr>
          <p:cNvPr id="113" name="Shape 111"/>
          <p:cNvSpPr/>
          <p:nvPr/>
        </p:nvSpPr>
        <p:spPr>
          <a:xfrm>
            <a:off x="3739896" y="5161788"/>
            <a:ext cx="7598664" cy="8275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867912" y="525322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3867912" y="52532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Lactase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2.5–5.4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5065776" y="525322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5065776" y="52532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Alpha-gal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3.0–8.0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6263640" y="525322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6263640" y="52532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Inulinase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2.0–7.0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7461504" y="525322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7461504" y="52532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4.0–8.0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8659368" y="525322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8659368" y="52532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Lipase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2.0–9.0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9857232" y="525322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9857232" y="52532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Xylose isom.
</a:t>
            </a: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7.0–9.0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3867912" y="5660136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late — the race was to finish before here. Whatever's still undigested now gets fermented by resident bacteria, which is what causes gas and bloating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411480" y="608076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Enzyme pH-stability ranges: fungal lactase &amp; alpha-galactosidase — project research; inulinase — Frontiers, simulated gastric conditions; fungal neutral protease — AMB Express (Aspergillus oryzae Y1); fungal lipase — Punature Ingredients; glucose/xylose isomerase — Creative Enzymes.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946</Words>
  <Application>Microsoft Office PowerPoint</Application>
  <PresentationFormat>Widescreen</PresentationFormat>
  <Paragraphs>143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Anna Mott</cp:lastModifiedBy>
  <cp:revision>1</cp:revision>
  <dcterms:created xsi:type="dcterms:W3CDTF">2026-08-07T19:58:05Z</dcterms:created>
  <dcterms:modified xsi:type="dcterms:W3CDTF">2026-08-07T20:01:12Z</dcterms:modified>
</cp:coreProperties>
</file>